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351516f58d488f" /><Relationship Type="http://schemas.openxmlformats.org/officeDocument/2006/relationships/extended-properties" Target="/docProps/app.xml" Id="R38ab03f42aa7437e" /><Relationship Type="http://schemas.openxmlformats.org/officeDocument/2006/relationships/officeDocument" Target="/ppt/presentation.xml" Id="R13dd35bdfd4047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08e5b0a49a4977"/>
  </p:sldMasterIdLst>
  <p:notesMasterIdLst>
    <p:notesMasterId xmlns:r="http://schemas.openxmlformats.org/officeDocument/2006/relationships" r:id="Red6d723fb5524e68"/>
  </p:notesMasterIdLst>
  <p:sldIdLst>
    <p:sldId xmlns:r="http://schemas.openxmlformats.org/officeDocument/2006/relationships" id="256" r:id="R8a0824dd7e1c40a0"/>
    <p:sldId xmlns:r="http://schemas.openxmlformats.org/officeDocument/2006/relationships" id="257" r:id="R1935313684c24716"/>
    <p:sldId xmlns:r="http://schemas.openxmlformats.org/officeDocument/2006/relationships" id="258" r:id="R85c608e5ad564069"/>
    <p:sldId xmlns:r="http://schemas.openxmlformats.org/officeDocument/2006/relationships" id="259" r:id="Rb383cc5671f1449b"/>
    <p:sldId xmlns:r="http://schemas.openxmlformats.org/officeDocument/2006/relationships" id="260" r:id="R685eddf8a91f472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6206c4a7694666" /><Relationship Type="http://schemas.openxmlformats.org/officeDocument/2006/relationships/slideMaster" Target="/ppt/slideMasters/slideMaster1.xml" Id="R6d08e5b0a49a4977" /><Relationship Type="http://schemas.openxmlformats.org/officeDocument/2006/relationships/notesMaster" Target="/ppt/notesMasters/notesMaster1.xml" Id="Red6d723fb5524e68" /><Relationship Type="http://schemas.openxmlformats.org/officeDocument/2006/relationships/presProps" Target="/ppt/presProps.xml" Id="Rec3ed1ff158a437f" /><Relationship Type="http://schemas.openxmlformats.org/officeDocument/2006/relationships/tableStyles" Target="/ppt/tableStyles.xml" Id="Ra25bc767eae84419" /><Relationship Type="http://schemas.openxmlformats.org/officeDocument/2006/relationships/slide" Target="/ppt/slides/slide1.xml" Id="R8a0824dd7e1c40a0" /><Relationship Type="http://schemas.openxmlformats.org/officeDocument/2006/relationships/slide" Target="/ppt/slides/slide2.xml" Id="R1935313684c24716" /><Relationship Type="http://schemas.openxmlformats.org/officeDocument/2006/relationships/slide" Target="/ppt/slides/slide3.xml" Id="R85c608e5ad564069" /><Relationship Type="http://schemas.openxmlformats.org/officeDocument/2006/relationships/slide" Target="/ppt/slides/slide4.xml" Id="Rb383cc5671f1449b" /><Relationship Type="http://schemas.openxmlformats.org/officeDocument/2006/relationships/slide" Target="/ppt/slides/slide5.xml" Id="R685eddf8a91f47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3a1701a83b47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8ac8cdf3b04cfa" /><Relationship Type="http://schemas.openxmlformats.org/officeDocument/2006/relationships/notesMaster" Target="/ppt/notesMasters/notesMaster1.xml" Id="R4f75b1b8b28545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bee02b13d74cc3" /><Relationship Type="http://schemas.openxmlformats.org/officeDocument/2006/relationships/notesMaster" Target="/ppt/notesMasters/notesMaster1.xml" Id="R9276437b7b8644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f076b1cb0546fe" /><Relationship Type="http://schemas.openxmlformats.org/officeDocument/2006/relationships/notesMaster" Target="/ppt/notesMasters/notesMaster1.xml" Id="Rd19e9f38e70a4b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23613bdb844cd4" /><Relationship Type="http://schemas.openxmlformats.org/officeDocument/2006/relationships/notesMaster" Target="/ppt/notesMasters/notesMaster1.xml" Id="R83f26fb1065b48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19f1da37194dba" /><Relationship Type="http://schemas.openxmlformats.org/officeDocument/2006/relationships/notesMaster" Target="/ppt/notesMasters/notesMaster1.xml" Id="R02adb3563db740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开场说明本文稿的目标是建立数据质量共识，不对污染原因下结论。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Course-local S02 profile output.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转入方法部分：先确认数据边界，再决定能回答什么。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Course-local course method.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强调缺失值会改变后续指标分母，但本页不预设填补方案。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Course-local data-profile contract.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表格只展示三个代表字段；完整六项数值保留在 profile.json。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dataset/06-beijing-air-quality-audit/case.csv; S02 profile generated locally.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图形仍是占位合同，不应在没有绘制和检查时写成已完成。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Course-local workflow contract.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c9488b6bb54e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873332c79146c4" /><Relationship Type="http://schemas.openxmlformats.org/officeDocument/2006/relationships/slideLayout" Target="/ppt/slideLayouts/slideLayout1.xml" Id="Ra45d949a32874c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5d949a32874c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88914ebfee4584" /><Relationship Type="http://schemas.openxmlformats.org/officeDocument/2006/relationships/notesSlide" Target="/ppt/notesSlides/notesSlide1.xml" Id="Rcc5f1dac8c2241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a9608f04d84586" /><Relationship Type="http://schemas.openxmlformats.org/officeDocument/2006/relationships/notesSlide" Target="/ppt/notesSlides/notesSlide2.xml" Id="R7070e9fa663146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53dc14a0e7453b" /><Relationship Type="http://schemas.openxmlformats.org/officeDocument/2006/relationships/notesSlide" Target="/ppt/notesSlides/notesSlide3.xml" Id="Rb3f66e46e81a41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626d30cef748b5" /><Relationship Type="http://schemas.openxmlformats.org/officeDocument/2006/relationships/notesSlide" Target="/ppt/notesSlides/notesSlide4.xml" Id="R25e4101dd3f047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6e33bb36784d84" /><Relationship Type="http://schemas.openxmlformats.org/officeDocument/2006/relationships/notesSlide" Target="/ppt/notesSlides/notesSlide5.xml" Id="R966357b844d14e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_KICKER">
            <a:extLst xmlns:a="http://schemas.openxmlformats.org/drawingml/2006/main">
              <a:ext uri="{FF2B5EF4-FFF2-40B4-BE49-F238E27FC236}">
                <a16:creationId xmlns:a16="http://schemas.microsoft.com/office/drawing/2014/main" id="{1E2A3347-3AD6-47A4-87B0-C5F19DDD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29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A3A"/>
                </a:solidFill>
              </a:defRPr>
            </a:pPr>
            <a:r>
              <a:rPr sz="1350" b="1">
                <a:solidFill>
                  <a:srgbClr val="172A3A"/>
                </a:solidFill>
              </a:rPr>
              <a:t>EDITABLE COURSE DECK</a:t>
            </a:r>
          </a:p>
        </p:txBody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FC9A7B7B-1604-4CC1-BDE1-62521BC6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78105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1A2B38"/>
                </a:solidFill>
              </a:defRPr>
            </a:pPr>
            <a:r>
              <a:rPr sz="5250" b="1">
                <a:solidFill>
                  <a:srgbClr val="1A2B38"/>
                </a:solidFill>
              </a:rPr>
              <a:t>让数据先过体检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9A91C180-03DF-443A-AF74-A649E62F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516572"/>
                </a:solidFill>
              </a:defRPr>
            </a:pPr>
            <a:r>
              <a:rPr sz="2250">
                <a:solidFill>
                  <a:srgbClr val="516572"/>
                </a:solidFill>
              </a:rPr>
              <a:t>从可读的 Markdown 到可编辑、可审计的演示文稿</a:t>
            </a:r>
          </a:p>
        </p:txBody>
      </p:sp>
      <p:sp>
        <p:nvSpPr>
          <p:cNvPr id="4" name="TITLE_ACCENT">
            <a:extLst xmlns:a="http://schemas.openxmlformats.org/drawingml/2006/main">
              <a:ext uri="{FF2B5EF4-FFF2-40B4-BE49-F238E27FC236}">
                <a16:creationId xmlns:a16="http://schemas.microsoft.com/office/drawing/2014/main" id="{A66C9583-DE86-4955-A1C2-DFBF6561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0"/>
            <a:ext cx="2362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13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65480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0B1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2DF84454-D6F1-42F0-BBB1-05CB5383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048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A3A"/>
                </a:solidFill>
              </a:defRPr>
            </a:pPr>
            <a:r>
              <a:rPr sz="1500" b="1">
                <a:solidFill>
                  <a:srgbClr val="172A3A"/>
                </a:solidFill>
              </a:rPr>
              <a:t>SECTION 01</a:t>
            </a:r>
          </a:p>
        </p:txBody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A8BF67A3-D251-498E-8A2A-B215F284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102870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72A3A"/>
                </a:solidFill>
              </a:defRPr>
            </a:pPr>
            <a:r>
              <a:rPr sz="4800" b="1">
                <a:solidFill>
                  <a:srgbClr val="172A3A"/>
                </a:solidFill>
              </a:rPr>
              <a:t>01 为什么先体检</a:t>
            </a:r>
          </a:p>
        </p:txBody>
      </p:sp>
    </p:spTree>
    <p:extLst>
      <p:ext uri="{BB962C8B-B14F-4D97-AF65-F5344CB8AC3E}">
        <p14:creationId xmlns:p14="http://schemas.microsoft.com/office/powerpoint/2010/main" val="7089488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_TITLE">
            <a:extLst xmlns:a="http://schemas.openxmlformats.org/drawingml/2006/main">
              <a:ext uri="{FF2B5EF4-FFF2-40B4-BE49-F238E27FC236}">
                <a16:creationId xmlns:a16="http://schemas.microsoft.com/office/drawing/2014/main" id="{8505871E-4DE5-4E96-8646-C1AB5BBB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A2B38"/>
                </a:solidFill>
              </a:defRPr>
            </a:pPr>
            <a:r>
              <a:rPr sz="3600" b="1">
                <a:solidFill>
                  <a:srgbClr val="1A2B38"/>
                </a:solidFill>
              </a:rPr>
              <a:t>缺失不是零</a:t>
            </a:r>
          </a:p>
        </p:txBody>
      </p:sp>
      <p:sp>
        <p:nvSpPr>
          <p:cNvPr id="2" name="PAGE_NUMBER">
            <a:extLst xmlns:a="http://schemas.openxmlformats.org/drawingml/2006/main">
              <a:ext uri="{FF2B5EF4-FFF2-40B4-BE49-F238E27FC236}">
                <a16:creationId xmlns:a16="http://schemas.microsoft.com/office/drawing/2014/main" id="{65956571-3F3B-4685-B8B9-C89A86CB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143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A2B38"/>
                </a:solidFill>
              </a:defRPr>
            </a:pPr>
            <a:r>
              <a:rPr sz="1500" b="1">
                <a:solidFill>
                  <a:srgbClr val="1A2B38"/>
                </a:solidFill>
              </a:rPr>
              <a:t>03</a:t>
            </a:r>
          </a:p>
        </p:txBody>
      </p:sp>
      <p:sp>
        <p:nvSpPr>
          <p:cNvPr id="3" name="ACCENT_RULE">
            <a:extLst xmlns:a="http://schemas.openxmlformats.org/drawingml/2006/main">
              <a:ext uri="{FF2B5EF4-FFF2-40B4-BE49-F238E27FC236}">
                <a16:creationId xmlns:a16="http://schemas.microsoft.com/office/drawing/2014/main" id="{7C064185-40B2-4135-9C5C-AF02A548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00150"/>
            <a:ext cx="1009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1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06FB09E7-42E0-4842-BA77-D29D3B98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10001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A2B38"/>
                </a:solidFill>
              </a:defRPr>
            </a:pPr>
            <a:r>
              <a:rPr sz="2100">
                <a:solidFill>
                  <a:srgbClr val="1A2B38"/>
                </a:solidFill>
              </a:rPr>
              <a:t>• 记录文件、编码、行列数与时间范围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>
                <a:solidFill>
                  <a:srgbClr val="1A2B38"/>
                </a:solidFill>
              </a:defRPr>
            </a:pPr>
            <a:r>
              <a:rPr sz="2100">
                <a:solidFill>
                  <a:srgbClr val="1A2B38"/>
                </a:solidFill>
              </a:rPr>
              <a:t>• 分字段统计缺失，不自动删除或填补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>
                <a:solidFill>
                  <a:srgbClr val="1A2B38"/>
                </a:solidFill>
              </a:defRPr>
            </a:pPr>
            <a:r>
              <a:rPr sz="2100">
                <a:solidFill>
                  <a:srgbClr val="1A2B38"/>
                </a:solidFill>
              </a:rPr>
              <a:t>• 把观察事实与处置建议分开</a:t>
            </a:r>
          </a:p>
        </p:txBody>
      </p:sp>
    </p:spTree>
    <p:extLst>
      <p:ext uri="{BB962C8B-B14F-4D97-AF65-F5344CB8AC3E}">
        <p14:creationId xmlns:p14="http://schemas.microsoft.com/office/powerpoint/2010/main" val="3879478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_TITLE">
            <a:extLst xmlns:a="http://schemas.openxmlformats.org/drawingml/2006/main">
              <a:ext uri="{FF2B5EF4-FFF2-40B4-BE49-F238E27FC236}">
                <a16:creationId xmlns:a16="http://schemas.microsoft.com/office/drawing/2014/main" id="{AEDFCE47-6E4D-4E21-AF4F-DF21896B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A2B38"/>
                </a:solidFill>
              </a:defRPr>
            </a:pPr>
            <a:r>
              <a:rPr sz="3600" b="1">
                <a:solidFill>
                  <a:srgbClr val="1A2B38"/>
                </a:solidFill>
              </a:rPr>
              <a:t>三项代表污染物缺失需单列</a:t>
            </a:r>
          </a:p>
        </p:txBody>
      </p:sp>
      <p:sp>
        <p:nvSpPr>
          <p:cNvPr id="2" name="PAGE_NUMBER">
            <a:extLst xmlns:a="http://schemas.openxmlformats.org/drawingml/2006/main">
              <a:ext uri="{FF2B5EF4-FFF2-40B4-BE49-F238E27FC236}">
                <a16:creationId xmlns:a16="http://schemas.microsoft.com/office/drawing/2014/main" id="{95A45508-7A11-4543-95E0-49F474A5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143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A2B38"/>
                </a:solidFill>
              </a:defRPr>
            </a:pPr>
            <a:r>
              <a:rPr sz="1500" b="1">
                <a:solidFill>
                  <a:srgbClr val="1A2B38"/>
                </a:solidFill>
              </a:rPr>
              <a:t>04</a:t>
            </a:r>
          </a:p>
        </p:txBody>
      </p:sp>
      <p:sp>
        <p:nvSpPr>
          <p:cNvPr id="3" name="ACCENT_RULE">
            <a:extLst xmlns:a="http://schemas.openxmlformats.org/drawingml/2006/main">
              <a:ext uri="{FF2B5EF4-FFF2-40B4-BE49-F238E27FC236}">
                <a16:creationId xmlns:a16="http://schemas.microsoft.com/office/drawing/2014/main" id="{F6B8895B-A76C-49E9-B519-DCCB3288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00150"/>
            <a:ext cx="1009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134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8" name="DATA_TABLE:table-4"/>
          <p:cNvGraphicFramePr/>
          <p:nvPr/>
        </p:nvGraphicFramePr>
        <p:xfrm>
          <a:off xmlns:a="http://schemas.openxmlformats.org/drawingml/2006/main" x="857250" y="1676400"/>
          <a:ext xmlns:a="http://schemas.openxmlformats.org/drawingml/2006/main" cx="10477500" cy="4000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492500"/>
                <a:gridCol w="3492500"/>
                <a:gridCol w="3492500"/>
              </a:tblGrid>
              <a:tr h="10001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字段</a:t>
                      </a:r>
                    </a:p>
                  </a:txBody>
                  <a:tcPr marL="91440" marR="91440" marT="45720" marB="45720">
                    <a:solidFill>
                      <a:srgbClr val="17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缺失数</a:t>
                      </a:r>
                    </a:p>
                  </a:txBody>
                  <a:tcPr marL="91440" marR="91440" marT="45720" marB="45720">
                    <a:solidFill>
                      <a:srgbClr val="17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缺失率</a:t>
                      </a:r>
                    </a:p>
                  </a:txBody>
                  <a:tcPr marL="91440" marR="91440" marT="45720" marB="45720">
                    <a:solidFill>
                      <a:srgbClr val="172A3A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A2B38"/>
                          </a:solidFill>
                        </a:rPr>
                        <a:t>PM2.5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A2B38"/>
                          </a:solidFill>
                        </a:rPr>
                        <a:t>466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A2B38"/>
                          </a:solidFill>
                        </a:rPr>
                        <a:t>2.21%</a:t>
                      </a:r>
                    </a:p>
                  </a:txBody>
                  <a:tcPr marL="91440" marR="91440" marT="45720" marB="45720"/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A2B38"/>
                          </a:solidFill>
                        </a:rPr>
                        <a:t>CO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A2B38"/>
                          </a:solidFill>
                        </a:rPr>
                        <a:t>1,027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A2B38"/>
                          </a:solidFill>
                        </a:rPr>
                        <a:t>4.88%</a:t>
                      </a:r>
                    </a:p>
                  </a:txBody>
                  <a:tcPr marL="91440" marR="91440" marT="45720" marB="45720"/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A2B38"/>
                          </a:solidFill>
                        </a:rPr>
                        <a:t>O3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A2B38"/>
                          </a:solidFill>
                        </a:rPr>
                        <a:t>830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A2B38"/>
                          </a:solidFill>
                        </a:rPr>
                        <a:t>3.95%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43669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_TITLE">
            <a:extLst xmlns:a="http://schemas.openxmlformats.org/drawingml/2006/main">
              <a:ext uri="{FF2B5EF4-FFF2-40B4-BE49-F238E27FC236}">
                <a16:creationId xmlns:a16="http://schemas.microsoft.com/office/drawing/2014/main" id="{8A956393-2533-4EFD-AFCF-21381587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A2B38"/>
                </a:solidFill>
              </a:defRPr>
            </a:pPr>
            <a:r>
              <a:rPr sz="3600" b="1">
                <a:solidFill>
                  <a:srgbClr val="1A2B38"/>
                </a:solidFill>
              </a:rPr>
              <a:t>把数据问题交给可复查的流程</a:t>
            </a:r>
          </a:p>
        </p:txBody>
      </p:sp>
      <p:sp>
        <p:nvSpPr>
          <p:cNvPr id="2" name="PAGE_NUMBER">
            <a:extLst xmlns:a="http://schemas.openxmlformats.org/drawingml/2006/main">
              <a:ext uri="{FF2B5EF4-FFF2-40B4-BE49-F238E27FC236}">
                <a16:creationId xmlns:a16="http://schemas.microsoft.com/office/drawing/2014/main" id="{8869A500-A6DA-4602-945B-D6F8F332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143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A2B38"/>
                </a:solidFill>
              </a:defRPr>
            </a:pPr>
            <a:r>
              <a:rPr sz="1500" b="1">
                <a:solidFill>
                  <a:srgbClr val="1A2B38"/>
                </a:solidFill>
              </a:rPr>
              <a:t>05</a:t>
            </a:r>
          </a:p>
        </p:txBody>
      </p:sp>
      <p:sp>
        <p:nvSpPr>
          <p:cNvPr id="3" name="ACCENT_RULE">
            <a:extLst xmlns:a="http://schemas.openxmlformats.org/drawingml/2006/main">
              <a:ext uri="{FF2B5EF4-FFF2-40B4-BE49-F238E27FC236}">
                <a16:creationId xmlns:a16="http://schemas.microsoft.com/office/drawing/2014/main" id="{13EE09B3-A578-4299-9FF6-79B6F3EF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00150"/>
            <a:ext cx="1009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1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RAPHIC_PLACEHOLDER:quality-review-flow">
            <a:extLst xmlns:a="http://schemas.openxmlformats.org/drawingml/2006/main">
              <a:ext uri="{FF2B5EF4-FFF2-40B4-BE49-F238E27FC236}">
                <a16:creationId xmlns:a16="http://schemas.microsoft.com/office/drawing/2014/main" id="{53AAC491-0F41-4636-A1E3-FE080F06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76400"/>
            <a:ext cx="1021080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D8E4E8"/>
          </a:solidFill>
          <a:ln xmlns:a="http://schemas.openxmlformats.org/drawingml/2006/main" w="19050">
            <a:solidFill>
              <a:srgbClr val="172A3A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A3A"/>
                </a:solidFill>
              </a:defRPr>
            </a:pPr>
            <a:r>
              <a:rPr sz="1950" b="1">
                <a:solidFill>
                  <a:srgbClr val="172A3A"/>
                </a:solidFill>
              </a:rPr>
              <a:t>图形占位</a:t>
            </a:r>
          </a:p>
          <a:p xmlns:a="http://schemas.openxmlformats.org/drawingml/2006/main">
            <a:pPr algn="ctr">
              <a:defRPr sz="1950" b="1">
                <a:solidFill>
                  <a:srgbClr val="172A3A"/>
                </a:solidFill>
              </a:defRPr>
            </a:pPr>
            <a:r>
              <a:rPr sz="1950" b="1">
                <a:solidFill>
                  <a:srgbClr val="172A3A"/>
                </a:solidFill>
              </a:rPr>
              <a:t>待绘制“读取→体检→人工复核→分析”四步流程，保留一个停止分支。</a:t>
            </a:r>
          </a:p>
        </p:txBody>
      </p:sp>
    </p:spTree>
    <p:extLst>
      <p:ext uri="{BB962C8B-B14F-4D97-AF65-F5344CB8AC3E}">
        <p14:creationId xmlns:p14="http://schemas.microsoft.com/office/powerpoint/2010/main" val="18736679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2026-07-28T09:09:22.0660000Z</dcterms:created>
  <dcterms:modified xsi:type="dcterms:W3CDTF">2026-07-28T09:09:22.0660000Z</dcterms:modified>
</coreProperties>
</file>