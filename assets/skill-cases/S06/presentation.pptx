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c027deea764639" /><Relationship Type="http://schemas.openxmlformats.org/officeDocument/2006/relationships/extended-properties" Target="/docProps/app.xml" Id="R80b993e27af049ec" /><Relationship Type="http://schemas.openxmlformats.org/officeDocument/2006/relationships/officeDocument" Target="/ppt/presentation.xml" Id="R78013cf79f7845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c3377720ec44fb"/>
  </p:sldMasterIdLst>
  <p:notesMasterIdLst>
    <p:notesMasterId xmlns:r="http://schemas.openxmlformats.org/officeDocument/2006/relationships" r:id="R3d5e4ffe74ef483d"/>
  </p:notesMasterIdLst>
  <p:sldIdLst>
    <p:sldId xmlns:r="http://schemas.openxmlformats.org/officeDocument/2006/relationships" id="256" r:id="Rc791971bba054461"/>
    <p:sldId xmlns:r="http://schemas.openxmlformats.org/officeDocument/2006/relationships" id="257" r:id="Rcc398afa67d44bc4"/>
    <p:sldId xmlns:r="http://schemas.openxmlformats.org/officeDocument/2006/relationships" id="258" r:id="Rfa6c9ffce64e4b24"/>
    <p:sldId xmlns:r="http://schemas.openxmlformats.org/officeDocument/2006/relationships" id="259" r:id="Rc9bf0714dfb54111"/>
    <p:sldId xmlns:r="http://schemas.openxmlformats.org/officeDocument/2006/relationships" id="260" r:id="R00772c54ca9e46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3644ff216a436f" /><Relationship Type="http://schemas.openxmlformats.org/officeDocument/2006/relationships/slideMaster" Target="/ppt/slideMasters/slideMaster1.xml" Id="R42c3377720ec44fb" /><Relationship Type="http://schemas.openxmlformats.org/officeDocument/2006/relationships/notesMaster" Target="/ppt/notesMasters/notesMaster1.xml" Id="R3d5e4ffe74ef483d" /><Relationship Type="http://schemas.openxmlformats.org/officeDocument/2006/relationships/presProps" Target="/ppt/presProps.xml" Id="Rd9651314dbe74a48" /><Relationship Type="http://schemas.openxmlformats.org/officeDocument/2006/relationships/tableStyles" Target="/ppt/tableStyles.xml" Id="Rc3b5b25bb70b4016" /><Relationship Type="http://schemas.openxmlformats.org/officeDocument/2006/relationships/slide" Target="/ppt/slides/slide1.xml" Id="Rc791971bba054461" /><Relationship Type="http://schemas.openxmlformats.org/officeDocument/2006/relationships/slide" Target="/ppt/slides/slide2.xml" Id="Rcc398afa67d44bc4" /><Relationship Type="http://schemas.openxmlformats.org/officeDocument/2006/relationships/slide" Target="/ppt/slides/slide3.xml" Id="Rfa6c9ffce64e4b24" /><Relationship Type="http://schemas.openxmlformats.org/officeDocument/2006/relationships/slide" Target="/ppt/slides/slide4.xml" Id="Rc9bf0714dfb54111" /><Relationship Type="http://schemas.openxmlformats.org/officeDocument/2006/relationships/slide" Target="/ppt/slides/slide5.xml" Id="R00772c54ca9e46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bcf362325c45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ee968e0ee24f6f" /><Relationship Type="http://schemas.openxmlformats.org/officeDocument/2006/relationships/notesMaster" Target="/ppt/notesMasters/notesMaster1.xml" Id="Rc0bcf439046e4a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444aeeba54f7c" /><Relationship Type="http://schemas.openxmlformats.org/officeDocument/2006/relationships/notesMaster" Target="/ppt/notesMasters/notesMaster1.xml" Id="R73a1150a588f48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d8a3ec50e04a02" /><Relationship Type="http://schemas.openxmlformats.org/officeDocument/2006/relationships/notesMaster" Target="/ppt/notesMasters/notesMaster1.xml" Id="R79d15e7e72b647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4544b80dbf4c4b" /><Relationship Type="http://schemas.openxmlformats.org/officeDocument/2006/relationships/notesMaster" Target="/ppt/notesMasters/notesMaster1.xml" Id="R76d07ab8f8a64d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6afa342114430c" /><Relationship Type="http://schemas.openxmlformats.org/officeDocument/2006/relationships/notesMaster" Target="/ppt/notesMasters/notesMaster1.xml" Id="Ra2619aa7ff8d41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开场说明本文稿的目标是建立数据质量共识，不对污染原因下结论。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Course-local S02 profile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转入方法部分：先确认数据边界，再决定能回答什么。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Course-local course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强调缺失值会改变后续指标分母，但本页不预设填补方案。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Course-local data-profile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表格只展示三个代表字段；完整六项数值保留在 profile.json。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dataset/06-beijing-air-quality-audit/case.csv; S02 profile generated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图形仍是占位合同，不应在没有绘制和检查时写成已完成。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Course-local workflow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46e7290fd42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fa065d1390459f" /><Relationship Type="http://schemas.openxmlformats.org/officeDocument/2006/relationships/slideLayout" Target="/ppt/slideLayouts/slideLayout1.xml" Id="Rb16abe3d45ba42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6abe3d45ba42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b11059eed4952" /><Relationship Type="http://schemas.openxmlformats.org/officeDocument/2006/relationships/notesSlide" Target="/ppt/notesSlides/notesSlide1.xml" Id="Rd52fe361808d43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cd99b14ff4ada" /><Relationship Type="http://schemas.openxmlformats.org/officeDocument/2006/relationships/notesSlide" Target="/ppt/notesSlides/notesSlide2.xml" Id="R8bee7a900cbd4f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f1a8d66cb4ed1" /><Relationship Type="http://schemas.openxmlformats.org/officeDocument/2006/relationships/notesSlide" Target="/ppt/notesSlides/notesSlide3.xml" Id="Re5a65f08199943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8005219114945" /><Relationship Type="http://schemas.openxmlformats.org/officeDocument/2006/relationships/notesSlide" Target="/ppt/notesSlides/notesSlide4.xml" Id="Ra8cdac748c0441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25207629e43d8" /><Relationship Type="http://schemas.openxmlformats.org/officeDocument/2006/relationships/notesSlide" Target="/ppt/notesSlides/notesSlide5.xml" Id="R308b627d82f349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_KICKER">
            <a:extLst xmlns:a="http://schemas.openxmlformats.org/drawingml/2006/main">
              <a:ext uri="{FF2B5EF4-FFF2-40B4-BE49-F238E27FC236}">
                <a16:creationId xmlns:a16="http://schemas.microsoft.com/office/drawing/2014/main" id="{7F5BA5DB-D5D6-432C-BFD5-B5BC1BCC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A3A"/>
                </a:solidFill>
              </a:defRPr>
            </a:pPr>
            <a:r>
              <a:rPr sz="1350" b="1">
                <a:solidFill>
                  <a:srgbClr val="172A3A"/>
                </a:solidFill>
              </a:rPr>
              <a:t>EDITABLE COURSE DECK</a:t>
            </a:r>
          </a:p>
        </p:txBody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D80C4FA-B9D1-4A54-8E5F-61BF4CDA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7810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A2B38"/>
                </a:solidFill>
              </a:defRPr>
            </a:pPr>
            <a:r>
              <a:rPr sz="5250" b="1">
                <a:solidFill>
                  <a:srgbClr val="1A2B38"/>
                </a:solidFill>
              </a:rPr>
              <a:t>让数据先过体检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53FC968-2EF5-4AEF-8582-EBBFEBE9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16572"/>
                </a:solidFill>
              </a:defRPr>
            </a:pPr>
            <a:r>
              <a:rPr sz="2250">
                <a:solidFill>
                  <a:srgbClr val="516572"/>
                </a:solidFill>
              </a:rPr>
              <a:t>从可读的 Markdown 到可编辑、可审计的演示文稿</a:t>
            </a:r>
          </a:p>
        </p:txBody>
      </p:sp>
      <p:sp>
        <p:nvSpPr>
          <p:cNvPr id="4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D9705754-7B43-4ABF-8821-ED34C7AF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2362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3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3182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B1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E4773AB-CBE9-4F2C-88E6-59894BAF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3A"/>
                </a:solidFill>
              </a:defRPr>
            </a:pPr>
            <a:r>
              <a:rPr sz="1500" b="1">
                <a:solidFill>
                  <a:srgbClr val="172A3A"/>
                </a:solidFill>
              </a:rPr>
              <a:t>SECTION 01</a:t>
            </a:r>
          </a:p>
        </p:txBody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5AE6CAD-CBCE-4C91-BF96-06831873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287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A3A"/>
                </a:solidFill>
              </a:defRPr>
            </a:pPr>
            <a:r>
              <a:rPr sz="4800" b="1">
                <a:solidFill>
                  <a:srgbClr val="172A3A"/>
                </a:solidFill>
              </a:rPr>
              <a:t>01 为什么先体检</a:t>
            </a:r>
          </a:p>
        </p:txBody>
      </p:sp>
    </p:spTree>
    <p:extLst>
      <p:ext uri="{BB962C8B-B14F-4D97-AF65-F5344CB8AC3E}">
        <p14:creationId xmlns:p14="http://schemas.microsoft.com/office/powerpoint/2010/main" val="965956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43DC11D-F5C7-47B8-A07C-95F00229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A2B38"/>
                </a:solidFill>
              </a:defRPr>
            </a:pPr>
            <a:r>
              <a:rPr sz="3600" b="1">
                <a:solidFill>
                  <a:srgbClr val="1A2B38"/>
                </a:solidFill>
              </a:rPr>
              <a:t>缺失不是零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38F56D05-3DF1-4F34-8B73-34E48967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A2B38"/>
                </a:solidFill>
              </a:defRPr>
            </a:pPr>
            <a:r>
              <a:rPr sz="1500" b="1">
                <a:solidFill>
                  <a:srgbClr val="1A2B38"/>
                </a:solidFill>
              </a:rPr>
              <a:t>03</a:t>
            </a:r>
          </a:p>
        </p:txBody>
      </p:sp>
      <p:sp>
        <p:nvSpPr>
          <p:cNvPr id="3" name="ACCENT_RULE">
            <a:extLst xmlns:a="http://schemas.openxmlformats.org/drawingml/2006/main">
              <a:ext uri="{FF2B5EF4-FFF2-40B4-BE49-F238E27FC236}">
                <a16:creationId xmlns:a16="http://schemas.microsoft.com/office/drawing/2014/main" id="{F3E54449-A540-44D7-B279-96E23111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ECBE43A-2412-4B03-9BC8-C6E75A20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001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A2B38"/>
                </a:solidFill>
              </a:defRPr>
            </a:pPr>
            <a:r>
              <a:rPr sz="2100">
                <a:solidFill>
                  <a:srgbClr val="1A2B38"/>
                </a:solidFill>
              </a:rPr>
              <a:t>• 记录文件、编码、行列数与时间范围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A2B38"/>
                </a:solidFill>
              </a:defRPr>
            </a:pPr>
            <a:r>
              <a:rPr sz="2100">
                <a:solidFill>
                  <a:srgbClr val="1A2B38"/>
                </a:solidFill>
              </a:rPr>
              <a:t>• 分字段统计缺失，不自动删除或填补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A2B38"/>
                </a:solidFill>
              </a:defRPr>
            </a:pPr>
            <a:r>
              <a:rPr sz="2100">
                <a:solidFill>
                  <a:srgbClr val="1A2B38"/>
                </a:solidFill>
              </a:rPr>
              <a:t>• 把观察事实与处置建议分开</a:t>
            </a:r>
          </a:p>
        </p:txBody>
      </p:sp>
    </p:spTree>
    <p:extLst>
      <p:ext uri="{BB962C8B-B14F-4D97-AF65-F5344CB8AC3E}">
        <p14:creationId xmlns:p14="http://schemas.microsoft.com/office/powerpoint/2010/main" val="1408754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0D83BDE-0B92-4307-AE88-4D06FE03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A2B38"/>
                </a:solidFill>
              </a:defRPr>
            </a:pPr>
            <a:r>
              <a:rPr sz="3600" b="1">
                <a:solidFill>
                  <a:srgbClr val="1A2B38"/>
                </a:solidFill>
              </a:rPr>
              <a:t>三项代表污染物缺失需单列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D6EED13B-09C2-4A1A-8D1A-96E7D903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A2B38"/>
                </a:solidFill>
              </a:defRPr>
            </a:pPr>
            <a:r>
              <a:rPr sz="1500" b="1">
                <a:solidFill>
                  <a:srgbClr val="1A2B38"/>
                </a:solidFill>
              </a:rPr>
              <a:t>04</a:t>
            </a:r>
          </a:p>
        </p:txBody>
      </p:sp>
      <p:sp>
        <p:nvSpPr>
          <p:cNvPr id="3" name="ACCENT_RULE">
            <a:extLst xmlns:a="http://schemas.openxmlformats.org/drawingml/2006/main">
              <a:ext uri="{FF2B5EF4-FFF2-40B4-BE49-F238E27FC236}">
                <a16:creationId xmlns:a16="http://schemas.microsoft.com/office/drawing/2014/main" id="{CAD863F4-5D6E-49A2-A6CD-309090B6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3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8" name="DATA_TABLE:table-4"/>
          <p:cNvGraphicFramePr/>
          <p:nvPr/>
        </p:nvGraphicFramePr>
        <p:xfrm>
          <a:off xmlns:a="http://schemas.openxmlformats.org/drawingml/2006/main" x="857250" y="1676400"/>
          <a:ext xmlns:a="http://schemas.openxmlformats.org/drawingml/2006/main" cx="104775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92500"/>
                <a:gridCol w="3492500"/>
                <a:gridCol w="3492500"/>
              </a:tblGrid>
              <a:tr h="1000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字段</a:t>
                      </a:r>
                    </a:p>
                  </a:txBody>
                  <a:tcPr marL="91440" marR="91440" marT="45720" marB="45720"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缺失数</a:t>
                      </a:r>
                    </a:p>
                  </a:txBody>
                  <a:tcPr marL="91440" marR="91440" marT="45720" marB="45720"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缺失率</a:t>
                      </a:r>
                    </a:p>
                  </a:txBody>
                  <a:tcPr marL="91440" marR="91440" marT="45720" marB="45720">
                    <a:solidFill>
                      <a:srgbClr val="172A3A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PM2.5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466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2.21%</a:t>
                      </a:r>
                    </a:p>
                  </a:txBody>
                  <a:tcPr marL="91440" marR="91440" marT="45720" marB="45720"/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1,027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4.88%</a:t>
                      </a:r>
                    </a:p>
                  </a:txBody>
                  <a:tcPr marL="91440" marR="91440" marT="45720" marB="45720"/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O3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830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3.95%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75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2EA43BD-066F-4494-9321-BFB4ECDA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A2B38"/>
                </a:solidFill>
              </a:defRPr>
            </a:pPr>
            <a:r>
              <a:rPr sz="3600" b="1">
                <a:solidFill>
                  <a:srgbClr val="1A2B38"/>
                </a:solidFill>
              </a:rPr>
              <a:t>把数据问题交给可复查的流程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14B3631-17D7-4AE4-95E8-14CD77D1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A2B38"/>
                </a:solidFill>
              </a:defRPr>
            </a:pPr>
            <a:r>
              <a:rPr sz="1500" b="1">
                <a:solidFill>
                  <a:srgbClr val="1A2B38"/>
                </a:solidFill>
              </a:rPr>
              <a:t>05</a:t>
            </a:r>
          </a:p>
        </p:txBody>
      </p:sp>
      <p:sp>
        <p:nvSpPr>
          <p:cNvPr id="3" name="ACCENT_RULE">
            <a:extLst xmlns:a="http://schemas.openxmlformats.org/drawingml/2006/main">
              <a:ext uri="{FF2B5EF4-FFF2-40B4-BE49-F238E27FC236}">
                <a16:creationId xmlns:a16="http://schemas.microsoft.com/office/drawing/2014/main" id="{5F8D9F18-87E3-49A8-8285-6B715C92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APHIC_PLACEHOLDER:quality-review-flow">
            <a:extLst xmlns:a="http://schemas.openxmlformats.org/drawingml/2006/main">
              <a:ext uri="{FF2B5EF4-FFF2-40B4-BE49-F238E27FC236}">
                <a16:creationId xmlns:a16="http://schemas.microsoft.com/office/drawing/2014/main" id="{643859F3-031B-4DCA-B0CF-14D099C3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102108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8E4E8"/>
          </a:solidFill>
          <a:ln xmlns:a="http://schemas.openxmlformats.org/drawingml/2006/main" w="19050">
            <a:solidFill>
              <a:srgbClr val="172A3A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A3A"/>
                </a:solidFill>
              </a:defRPr>
            </a:pPr>
            <a:r>
              <a:rPr sz="1950" b="1">
                <a:solidFill>
                  <a:srgbClr val="172A3A"/>
                </a:solidFill>
              </a:rPr>
              <a:t>图形占位</a:t>
            </a:r>
          </a:p>
          <a:p xmlns:a="http://schemas.openxmlformats.org/drawingml/2006/main">
            <a:pPr algn="ctr">
              <a:defRPr sz="1950" b="1">
                <a:solidFill>
                  <a:srgbClr val="172A3A"/>
                </a:solidFill>
              </a:defRPr>
            </a:pPr>
            <a:r>
              <a:rPr sz="1950" b="1">
                <a:solidFill>
                  <a:srgbClr val="172A3A"/>
                </a:solidFill>
              </a:rPr>
              <a:t>待绘制“读取→体检→人工复核→分析”四步流程，保留一个停止分支。</a:t>
            </a:r>
          </a:p>
        </p:txBody>
      </p:sp>
    </p:spTree>
    <p:extLst>
      <p:ext uri="{BB962C8B-B14F-4D97-AF65-F5344CB8AC3E}">
        <p14:creationId xmlns:p14="http://schemas.microsoft.com/office/powerpoint/2010/main" val="1294022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2026-07-28T09:09:38.4580000Z</dcterms:created>
  <dcterms:modified xsi:type="dcterms:W3CDTF">2026-07-28T09:09:38.4580000Z</dcterms:modified>
</coreProperties>
</file>